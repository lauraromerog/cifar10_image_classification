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Roboto Mono Medium"/>
      <p:regular r:id="rId19"/>
      <p:bold r:id="rId20"/>
      <p:italic r:id="rId21"/>
      <p:boldItalic r:id="rId22"/>
    </p:embeddedFont>
    <p:embeddedFont>
      <p:font typeface="Roboto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Medium-bold.fntdata"/><Relationship Id="rId22" Type="http://schemas.openxmlformats.org/officeDocument/2006/relationships/font" Target="fonts/RobotoMonoMedium-boldItalic.fntdata"/><Relationship Id="rId21" Type="http://schemas.openxmlformats.org/officeDocument/2006/relationships/font" Target="fonts/RobotoMonoMedium-italic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RobotoMonoMedium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2ae05c4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2ae05c4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2ae05c4eb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2ae05c4eb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2ae05c4eb_0_1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2ae05c4eb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2ae05c4eb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2ae05c4eb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2ae05c4eb_0_1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2ae05c4eb_0_1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2f32c8079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2f32c8079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2f32c8079_0_1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2f32c8079_0_1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2f32c8079_0_1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d2f32c8079_0_1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0" y="-125"/>
            <a:ext cx="91440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CIFAR-10 Image Classification using CNN &amp; Transfer Learning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6750" y="4236775"/>
            <a:ext cx="1608000" cy="66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89.34 %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997375" y="4236775"/>
            <a:ext cx="1608000" cy="66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86.17 %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768000" y="4236775"/>
            <a:ext cx="1608000" cy="66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86.14 </a:t>
            </a:r>
            <a:r>
              <a:rPr b="1" lang="es-419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538625" y="4236775"/>
            <a:ext cx="1608000" cy="66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79.30</a:t>
            </a:r>
            <a:r>
              <a:rPr b="1" lang="es-419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%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309250" y="4236775"/>
            <a:ext cx="1608000" cy="66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72.47</a:t>
            </a:r>
            <a:r>
              <a:rPr b="1" lang="es-419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%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26750" y="3958975"/>
            <a:ext cx="1608000" cy="27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Ensemble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997375" y="3958975"/>
            <a:ext cx="1608000" cy="277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MobileNetV2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3768000" y="3958975"/>
            <a:ext cx="1608000" cy="277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EfficientNetB0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538625" y="3958975"/>
            <a:ext cx="1608000" cy="277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ResNet50V2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309250" y="3958975"/>
            <a:ext cx="1608000" cy="2778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CNN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729450" y="6210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840"/>
              <a:t>Agenda</a:t>
            </a:r>
            <a:endParaRPr sz="1840"/>
          </a:p>
        </p:txBody>
      </p:sp>
      <p:sp>
        <p:nvSpPr>
          <p:cNvPr id="102" name="Google Shape;102;p14"/>
          <p:cNvSpPr/>
          <p:nvPr/>
        </p:nvSpPr>
        <p:spPr>
          <a:xfrm>
            <a:off x="1060025" y="1392526"/>
            <a:ext cx="3359700" cy="970500"/>
          </a:xfrm>
          <a:prstGeom prst="rect">
            <a:avLst/>
          </a:prstGeom>
          <a:solidFill>
            <a:srgbClr val="FFFFFF"/>
          </a:solidFill>
          <a:ln cap="flat" cmpd="sng" w="77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82958" rotWithShape="0" algn="bl" dir="8100000" dist="31109">
              <a:srgbClr val="000000">
                <a:alpha val="10200"/>
              </a:srgbClr>
            </a:outerShdw>
          </a:effectLst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1060025" y="1392526"/>
            <a:ext cx="537600" cy="970500"/>
          </a:xfrm>
          <a:prstGeom prst="rect">
            <a:avLst/>
          </a:prstGeom>
          <a:solidFill>
            <a:schemeClr val="dk1"/>
          </a:solidFill>
          <a:ln cap="flat" cmpd="sng" w="103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1060025" y="1616513"/>
            <a:ext cx="5376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96"/>
              <a:buFont typeface="Calibri"/>
              <a:buNone/>
            </a:pPr>
            <a:r>
              <a:rPr b="1" i="0" lang="es-419" sz="1796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i="0" sz="1796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1672250" y="1392525"/>
            <a:ext cx="26505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43"/>
              <a:buFont typeface="Calibri"/>
              <a:buNone/>
            </a:pPr>
            <a:r>
              <a:rPr b="1" lang="es-419" sz="1143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Data Loading, Preprocessing, and Visualization</a:t>
            </a:r>
            <a:endParaRPr i="0" sz="1143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643818" y="1392526"/>
            <a:ext cx="3359700" cy="970500"/>
          </a:xfrm>
          <a:prstGeom prst="rect">
            <a:avLst/>
          </a:prstGeom>
          <a:solidFill>
            <a:srgbClr val="FFFFFF"/>
          </a:solidFill>
          <a:ln cap="flat" cmpd="sng" w="77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82958" rotWithShape="0" algn="bl" dir="8100000" dist="31109">
              <a:srgbClr val="000000">
                <a:alpha val="10200"/>
              </a:srgbClr>
            </a:outerShdw>
          </a:effectLst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643818" y="1392526"/>
            <a:ext cx="537600" cy="970500"/>
          </a:xfrm>
          <a:prstGeom prst="rect">
            <a:avLst/>
          </a:prstGeom>
          <a:solidFill>
            <a:schemeClr val="accent3"/>
          </a:solidFill>
          <a:ln cap="flat" cmpd="sng" w="103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4643818" y="1616513"/>
            <a:ext cx="5376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96"/>
              <a:buFont typeface="Calibri"/>
              <a:buNone/>
            </a:pPr>
            <a:r>
              <a:rPr b="1" i="0" lang="es-419" sz="1796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i="0" sz="1796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5256050" y="1392552"/>
            <a:ext cx="26505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43"/>
              <a:buFont typeface="Calibri"/>
              <a:buNone/>
            </a:pPr>
            <a:r>
              <a:rPr b="1" lang="es-419" sz="1143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Custom CNN</a:t>
            </a:r>
            <a:endParaRPr i="0" sz="1143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1060025" y="2527394"/>
            <a:ext cx="3359700" cy="970500"/>
          </a:xfrm>
          <a:prstGeom prst="rect">
            <a:avLst/>
          </a:prstGeom>
          <a:solidFill>
            <a:srgbClr val="FFFFFF"/>
          </a:solidFill>
          <a:ln cap="flat" cmpd="sng" w="77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82958" rotWithShape="0" algn="bl" dir="8100000" dist="31109">
              <a:srgbClr val="000000">
                <a:alpha val="10200"/>
              </a:srgbClr>
            </a:outerShdw>
          </a:effectLst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1060025" y="2527394"/>
            <a:ext cx="537600" cy="970500"/>
          </a:xfrm>
          <a:prstGeom prst="rect">
            <a:avLst/>
          </a:prstGeom>
          <a:solidFill>
            <a:schemeClr val="dk1"/>
          </a:solidFill>
          <a:ln cap="flat" cmpd="sng" w="103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1060025" y="2751382"/>
            <a:ext cx="5376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96"/>
              <a:buFont typeface="Calibri"/>
              <a:buNone/>
            </a:pPr>
            <a:r>
              <a:rPr b="1" i="0" lang="es-419" sz="1796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i="0" sz="1796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1672250" y="2527350"/>
            <a:ext cx="26505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43"/>
              <a:buFont typeface="Calibri"/>
              <a:buNone/>
            </a:pPr>
            <a:r>
              <a:rPr b="1" lang="es-419" sz="1143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Train and Evaluate the Custom CNN</a:t>
            </a:r>
            <a:endParaRPr b="1" sz="1143">
              <a:solidFill>
                <a:srgbClr val="1E276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4643818" y="2527394"/>
            <a:ext cx="3359700" cy="970500"/>
          </a:xfrm>
          <a:prstGeom prst="rect">
            <a:avLst/>
          </a:prstGeom>
          <a:solidFill>
            <a:srgbClr val="FFFFFF"/>
          </a:solidFill>
          <a:ln cap="flat" cmpd="sng" w="77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82958" rotWithShape="0" algn="bl" dir="8100000" dist="31109">
              <a:srgbClr val="000000">
                <a:alpha val="10200"/>
              </a:srgbClr>
            </a:outerShdw>
          </a:effectLst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4643818" y="2527394"/>
            <a:ext cx="537600" cy="970500"/>
          </a:xfrm>
          <a:prstGeom prst="rect">
            <a:avLst/>
          </a:prstGeom>
          <a:solidFill>
            <a:schemeClr val="accent3"/>
          </a:solidFill>
          <a:ln cap="flat" cmpd="sng" w="103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4643818" y="2751382"/>
            <a:ext cx="5376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96"/>
              <a:buFont typeface="Calibri"/>
              <a:buNone/>
            </a:pPr>
            <a:r>
              <a:rPr b="1" i="0" lang="es-419" sz="1796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i="0" sz="1796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5256050" y="2527349"/>
            <a:ext cx="26505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43"/>
              <a:buFont typeface="Calibri"/>
              <a:buNone/>
            </a:pPr>
            <a:r>
              <a:rPr b="1" lang="es-419" sz="1143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Transfer Learning</a:t>
            </a:r>
            <a:endParaRPr i="0" sz="1143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1060025" y="3662263"/>
            <a:ext cx="3359700" cy="970500"/>
          </a:xfrm>
          <a:prstGeom prst="rect">
            <a:avLst/>
          </a:prstGeom>
          <a:solidFill>
            <a:srgbClr val="FFFFFF"/>
          </a:solidFill>
          <a:ln cap="flat" cmpd="sng" w="77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82958" rotWithShape="0" algn="bl" dir="8100000" dist="31109">
              <a:srgbClr val="000000">
                <a:alpha val="10200"/>
              </a:srgbClr>
            </a:outerShdw>
          </a:effectLst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1060025" y="3662263"/>
            <a:ext cx="537600" cy="970500"/>
          </a:xfrm>
          <a:prstGeom prst="rect">
            <a:avLst/>
          </a:prstGeom>
          <a:solidFill>
            <a:schemeClr val="dk1"/>
          </a:solidFill>
          <a:ln cap="flat" cmpd="sng" w="103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1060025" y="3886250"/>
            <a:ext cx="5376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96"/>
              <a:buFont typeface="Calibri"/>
              <a:buNone/>
            </a:pPr>
            <a:r>
              <a:rPr b="1" i="0" lang="es-419" sz="1796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05</a:t>
            </a:r>
            <a:endParaRPr i="0" sz="1796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1672250" y="3662278"/>
            <a:ext cx="26505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43"/>
              <a:buFont typeface="Calibri"/>
              <a:buNone/>
            </a:pPr>
            <a:r>
              <a:rPr b="1" lang="es-419" sz="1143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Comparison Plots &amp; Best Model</a:t>
            </a:r>
            <a:endParaRPr i="0" sz="1143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4643818" y="3662263"/>
            <a:ext cx="3359700" cy="970500"/>
          </a:xfrm>
          <a:prstGeom prst="rect">
            <a:avLst/>
          </a:prstGeom>
          <a:solidFill>
            <a:srgbClr val="FFFFFF"/>
          </a:solidFill>
          <a:ln cap="flat" cmpd="sng" w="77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82958" rotWithShape="0" algn="bl" dir="8100000" dist="31109">
              <a:srgbClr val="000000">
                <a:alpha val="10200"/>
              </a:srgbClr>
            </a:outerShdw>
          </a:effectLst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4643818" y="3662263"/>
            <a:ext cx="537600" cy="970500"/>
          </a:xfrm>
          <a:prstGeom prst="rect">
            <a:avLst/>
          </a:prstGeom>
          <a:solidFill>
            <a:schemeClr val="accent3"/>
          </a:solidFill>
          <a:ln cap="flat" cmpd="sng" w="103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4643818" y="3886250"/>
            <a:ext cx="5376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96"/>
              <a:buFont typeface="Calibri"/>
              <a:buNone/>
            </a:pPr>
            <a:r>
              <a:rPr b="1" i="0" lang="es-419" sz="1796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06</a:t>
            </a:r>
            <a:endParaRPr i="0" sz="1796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5256050" y="3662251"/>
            <a:ext cx="26505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43"/>
              <a:buFont typeface="Calibri"/>
              <a:buNone/>
            </a:pPr>
            <a:r>
              <a:rPr b="1" lang="es-419" sz="1143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Ensamble</a:t>
            </a:r>
            <a:endParaRPr i="0" sz="1143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727638" y="635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5440" lvl="0" marL="457200" rtl="0" algn="l">
              <a:spcBef>
                <a:spcPts val="0"/>
              </a:spcBef>
              <a:spcAft>
                <a:spcPts val="0"/>
              </a:spcAft>
              <a:buSzPts val="1840"/>
              <a:buAutoNum type="arabicPeriod"/>
            </a:pPr>
            <a:r>
              <a:rPr lang="es-419" sz="1840"/>
              <a:t>Data Loading and Visualization</a:t>
            </a:r>
            <a:endParaRPr sz="1840"/>
          </a:p>
        </p:txBody>
      </p:sp>
      <p:grpSp>
        <p:nvGrpSpPr>
          <p:cNvPr id="131" name="Google Shape;131;p15"/>
          <p:cNvGrpSpPr/>
          <p:nvPr/>
        </p:nvGrpSpPr>
        <p:grpSpPr>
          <a:xfrm>
            <a:off x="2687745" y="1170469"/>
            <a:ext cx="3768522" cy="3774409"/>
            <a:chOff x="2675582" y="676586"/>
            <a:chExt cx="3793942" cy="3790328"/>
          </a:xfrm>
        </p:grpSpPr>
        <p:sp>
          <p:nvSpPr>
            <p:cNvPr id="132" name="Google Shape;132;p15"/>
            <p:cNvSpPr/>
            <p:nvPr/>
          </p:nvSpPr>
          <p:spPr>
            <a:xfrm rot="-7199815">
              <a:off x="3183352" y="1184485"/>
              <a:ext cx="2774659" cy="2774659"/>
            </a:xfrm>
            <a:prstGeom prst="blockArc">
              <a:avLst>
                <a:gd fmla="val 12622480" name="adj1"/>
                <a:gd fmla="val 18176457" name="adj2"/>
                <a:gd fmla="val 20786" name="adj3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 rot="-1799815">
              <a:off x="3183352" y="1184357"/>
              <a:ext cx="2774659" cy="2774659"/>
            </a:xfrm>
            <a:prstGeom prst="blockArc">
              <a:avLst>
                <a:gd fmla="val 12622480" name="adj1"/>
                <a:gd fmla="val 18176457" name="adj2"/>
                <a:gd fmla="val 20786" name="adj3"/>
              </a:avLst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 rot="3600185">
              <a:off x="3187094" y="1184439"/>
              <a:ext cx="2774659" cy="2774659"/>
            </a:xfrm>
            <a:prstGeom prst="blockArc">
              <a:avLst>
                <a:gd fmla="val 12564381" name="adj1"/>
                <a:gd fmla="val 18346131" name="adj2"/>
                <a:gd fmla="val 20844" name="adj3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 rot="9000185">
              <a:off x="3185977" y="1184485"/>
              <a:ext cx="2774659" cy="2774659"/>
            </a:xfrm>
            <a:prstGeom prst="blockArc">
              <a:avLst>
                <a:gd fmla="val 12622480" name="adj1"/>
                <a:gd fmla="val 18081133" name="adj2"/>
                <a:gd fmla="val 20809" name="adj3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6" name="Google Shape;136;p15"/>
            <p:cNvGrpSpPr/>
            <p:nvPr/>
          </p:nvGrpSpPr>
          <p:grpSpPr>
            <a:xfrm rot="5400000">
              <a:off x="5379663" y="2278951"/>
              <a:ext cx="585001" cy="585472"/>
              <a:chOff x="1967628" y="812211"/>
              <a:chExt cx="588000" cy="588000"/>
            </a:xfrm>
          </p:grpSpPr>
          <p:sp>
            <p:nvSpPr>
              <p:cNvPr id="137" name="Google Shape;137;p15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B786F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B78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" name="Google Shape;139;p15"/>
            <p:cNvGrpSpPr/>
            <p:nvPr/>
          </p:nvGrpSpPr>
          <p:grpSpPr>
            <a:xfrm rot="10800000">
              <a:off x="4280709" y="3378529"/>
              <a:ext cx="585001" cy="585472"/>
              <a:chOff x="1967628" y="812211"/>
              <a:chExt cx="588000" cy="588000"/>
            </a:xfrm>
          </p:grpSpPr>
          <p:sp>
            <p:nvSpPr>
              <p:cNvPr id="140" name="Google Shape;140;p15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D7E75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5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D7E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" name="Google Shape;142;p15"/>
            <p:cNvGrpSpPr/>
            <p:nvPr/>
          </p:nvGrpSpPr>
          <p:grpSpPr>
            <a:xfrm rot="-5400000">
              <a:off x="3179922" y="2281478"/>
              <a:ext cx="585001" cy="585472"/>
              <a:chOff x="1967628" y="812211"/>
              <a:chExt cx="588000" cy="588000"/>
            </a:xfrm>
          </p:grpSpPr>
          <p:sp>
            <p:nvSpPr>
              <p:cNvPr id="143" name="Google Shape;143;p15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F887E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F887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5" name="Google Shape;145;p15"/>
            <p:cNvSpPr txBox="1"/>
            <p:nvPr/>
          </p:nvSpPr>
          <p:spPr>
            <a:xfrm>
              <a:off x="3214513" y="2360618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46;p15"/>
            <p:cNvSpPr txBox="1"/>
            <p:nvPr/>
          </p:nvSpPr>
          <p:spPr>
            <a:xfrm>
              <a:off x="4335750" y="346030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" name="Google Shape;147;p15"/>
            <p:cNvSpPr txBox="1"/>
            <p:nvPr/>
          </p:nvSpPr>
          <p:spPr>
            <a:xfrm>
              <a:off x="5419402" y="2360618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8" name="Google Shape;148;p15"/>
            <p:cNvGrpSpPr/>
            <p:nvPr/>
          </p:nvGrpSpPr>
          <p:grpSpPr>
            <a:xfrm>
              <a:off x="4261689" y="1180926"/>
              <a:ext cx="585001" cy="585530"/>
              <a:chOff x="1967628" y="812211"/>
              <a:chExt cx="588000" cy="588000"/>
            </a:xfrm>
          </p:grpSpPr>
          <p:sp>
            <p:nvSpPr>
              <p:cNvPr id="149" name="Google Shape;149;p15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55B55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55B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1" name="Google Shape;151;p15"/>
            <p:cNvSpPr txBox="1"/>
            <p:nvPr/>
          </p:nvSpPr>
          <p:spPr>
            <a:xfrm>
              <a:off x="4335750" y="1254446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" name="Google Shape;152;p15"/>
          <p:cNvGrpSpPr/>
          <p:nvPr/>
        </p:nvGrpSpPr>
        <p:grpSpPr>
          <a:xfrm>
            <a:off x="384950" y="1477725"/>
            <a:ext cx="3362713" cy="1289700"/>
            <a:chOff x="323500" y="1170475"/>
            <a:chExt cx="3362713" cy="1289700"/>
          </a:xfrm>
        </p:grpSpPr>
        <p:sp>
          <p:nvSpPr>
            <p:cNvPr id="153" name="Google Shape;153;p15"/>
            <p:cNvSpPr txBox="1"/>
            <p:nvPr/>
          </p:nvSpPr>
          <p:spPr>
            <a:xfrm>
              <a:off x="323500" y="1170475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aleway"/>
                  <a:ea typeface="Raleway"/>
                  <a:cs typeface="Raleway"/>
                  <a:sym typeface="Raleway"/>
                </a:rPr>
                <a:t>Load Data</a:t>
              </a:r>
              <a:endParaRPr b="1"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"/>
                  <a:ea typeface="Roboto"/>
                  <a:cs typeface="Roboto"/>
                  <a:sym typeface="Roboto"/>
                </a:rPr>
                <a:t>Get data from keras dataset.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s-419" sz="800">
                  <a:latin typeface="Roboto"/>
                  <a:ea typeface="Roboto"/>
                  <a:cs typeface="Roboto"/>
                  <a:sym typeface="Roboto"/>
                </a:rPr>
                <a:t>Separate </a:t>
              </a: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(X_train, y_train), (X_test, y_test)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cxnSp>
          <p:nvCxnSpPr>
            <p:cNvPr id="154" name="Google Shape;154;p15"/>
            <p:cNvCxnSpPr/>
            <p:nvPr/>
          </p:nvCxnSpPr>
          <p:spPr>
            <a:xfrm rot="10800000">
              <a:off x="2641913" y="1831625"/>
              <a:ext cx="1044300" cy="0"/>
            </a:xfrm>
            <a:prstGeom prst="straightConnector1">
              <a:avLst/>
            </a:prstGeom>
            <a:noFill/>
            <a:ln cap="flat" cmpd="sng" w="9525">
              <a:solidFill>
                <a:srgbClr val="1F887E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55" name="Google Shape;155;p15"/>
          <p:cNvGrpSpPr/>
          <p:nvPr/>
        </p:nvGrpSpPr>
        <p:grpSpPr>
          <a:xfrm>
            <a:off x="323500" y="3276500"/>
            <a:ext cx="3629413" cy="1289700"/>
            <a:chOff x="323500" y="2828275"/>
            <a:chExt cx="3629413" cy="1289700"/>
          </a:xfrm>
        </p:grpSpPr>
        <p:sp>
          <p:nvSpPr>
            <p:cNvPr id="156" name="Google Shape;156;p15"/>
            <p:cNvSpPr txBox="1"/>
            <p:nvPr/>
          </p:nvSpPr>
          <p:spPr>
            <a:xfrm>
              <a:off x="323500" y="2828275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aleway"/>
                  <a:ea typeface="Raleway"/>
                  <a:cs typeface="Raleway"/>
                  <a:sym typeface="Raleway"/>
                </a:rPr>
                <a:t>Class names for CIFAR-10</a:t>
              </a:r>
              <a:endParaRPr b="1"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['Airplane', 'Automobile', 'Bird', 'Cat', 'Deer', 'Dog', 'Frog', 'Horse', 'Ship', 'Truck']</a:t>
              </a: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.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cxnSp>
          <p:nvCxnSpPr>
            <p:cNvPr id="157" name="Google Shape;157;p15"/>
            <p:cNvCxnSpPr/>
            <p:nvPr/>
          </p:nvCxnSpPr>
          <p:spPr>
            <a:xfrm rot="10800000">
              <a:off x="2641913" y="3489425"/>
              <a:ext cx="1311000" cy="0"/>
            </a:xfrm>
            <a:prstGeom prst="straightConnector1">
              <a:avLst/>
            </a:prstGeom>
            <a:noFill/>
            <a:ln cap="flat" cmpd="sng" w="9525">
              <a:solidFill>
                <a:srgbClr val="1D7E7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58" name="Google Shape;158;p15"/>
          <p:cNvGrpSpPr/>
          <p:nvPr/>
        </p:nvGrpSpPr>
        <p:grpSpPr>
          <a:xfrm>
            <a:off x="5240550" y="1538575"/>
            <a:ext cx="3610650" cy="1289700"/>
            <a:chOff x="5209825" y="1060350"/>
            <a:chExt cx="3610650" cy="1289700"/>
          </a:xfrm>
        </p:grpSpPr>
        <p:sp>
          <p:nvSpPr>
            <p:cNvPr id="159" name="Google Shape;159;p15"/>
            <p:cNvSpPr txBox="1"/>
            <p:nvPr/>
          </p:nvSpPr>
          <p:spPr>
            <a:xfrm>
              <a:off x="6696475" y="1060350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aleway"/>
                  <a:ea typeface="Raleway"/>
                  <a:cs typeface="Raleway"/>
                  <a:sym typeface="Raleway"/>
                </a:rPr>
                <a:t>Check class distribution</a:t>
              </a:r>
              <a:endParaRPr b="1"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{'Airplane': np.int64(5000),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 'Automobile': np.int64(5000),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 'Bird': np.int64(5000),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 'Cat': np.int64(5000),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 'Deer': np.int64(5000),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 'Dog': np.int64(5000),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 'Frog': np.int64(5000),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 'Horse': np.int64(5000),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 'Ship': np.int64(5000),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 'Truck': np.int64(5000)</a:t>
              </a:r>
              <a:r>
                <a:rPr lang="es-419" sz="800">
                  <a:latin typeface="Roboto"/>
                  <a:ea typeface="Roboto"/>
                  <a:cs typeface="Roboto"/>
                  <a:sym typeface="Roboto"/>
                </a:rPr>
                <a:t>}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0" name="Google Shape;160;p15"/>
            <p:cNvCxnSpPr/>
            <p:nvPr/>
          </p:nvCxnSpPr>
          <p:spPr>
            <a:xfrm>
              <a:off x="5209825" y="1705200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55B5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61" name="Google Shape;161;p15"/>
          <p:cNvGrpSpPr/>
          <p:nvPr/>
        </p:nvGrpSpPr>
        <p:grpSpPr>
          <a:xfrm>
            <a:off x="5312250" y="3276500"/>
            <a:ext cx="3610650" cy="1289700"/>
            <a:chOff x="5209825" y="3020450"/>
            <a:chExt cx="3610650" cy="1289700"/>
          </a:xfrm>
        </p:grpSpPr>
        <p:sp>
          <p:nvSpPr>
            <p:cNvPr id="162" name="Google Shape;162;p15"/>
            <p:cNvSpPr txBox="1"/>
            <p:nvPr/>
          </p:nvSpPr>
          <p:spPr>
            <a:xfrm>
              <a:off x="6696475" y="3020450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aleway"/>
                  <a:ea typeface="Raleway"/>
                  <a:cs typeface="Raleway"/>
                  <a:sym typeface="Raleway"/>
                </a:rPr>
                <a:t>Visualize sample images</a:t>
              </a:r>
              <a:endParaRPr b="1"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3" name="Google Shape;163;p15"/>
            <p:cNvCxnSpPr/>
            <p:nvPr/>
          </p:nvCxnSpPr>
          <p:spPr>
            <a:xfrm>
              <a:off x="5209825" y="3648300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B786F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pic>
        <p:nvPicPr>
          <p:cNvPr id="164" name="Google Shape;1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3978" y="3874299"/>
            <a:ext cx="898325" cy="100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type="title"/>
          </p:nvPr>
        </p:nvSpPr>
        <p:spPr>
          <a:xfrm>
            <a:off x="727638" y="635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5440" lvl="0" marL="457200" rtl="0" algn="l">
              <a:spcBef>
                <a:spcPts val="0"/>
              </a:spcBef>
              <a:spcAft>
                <a:spcPts val="0"/>
              </a:spcAft>
              <a:buSzPts val="1840"/>
              <a:buAutoNum type="arabicPeriod"/>
            </a:pPr>
            <a:r>
              <a:rPr lang="es-419" sz="1840"/>
              <a:t>Data Preprocessing</a:t>
            </a:r>
            <a:endParaRPr sz="1840"/>
          </a:p>
        </p:txBody>
      </p:sp>
      <p:grpSp>
        <p:nvGrpSpPr>
          <p:cNvPr id="170" name="Google Shape;170;p16"/>
          <p:cNvGrpSpPr/>
          <p:nvPr/>
        </p:nvGrpSpPr>
        <p:grpSpPr>
          <a:xfrm>
            <a:off x="2687745" y="1170469"/>
            <a:ext cx="3768522" cy="3774409"/>
            <a:chOff x="2675582" y="676586"/>
            <a:chExt cx="3793942" cy="3790328"/>
          </a:xfrm>
        </p:grpSpPr>
        <p:sp>
          <p:nvSpPr>
            <p:cNvPr id="171" name="Google Shape;171;p16"/>
            <p:cNvSpPr/>
            <p:nvPr/>
          </p:nvSpPr>
          <p:spPr>
            <a:xfrm rot="-7199815">
              <a:off x="3183352" y="1184485"/>
              <a:ext cx="2774659" cy="2774659"/>
            </a:xfrm>
            <a:prstGeom prst="blockArc">
              <a:avLst>
                <a:gd fmla="val 12622480" name="adj1"/>
                <a:gd fmla="val 18176457" name="adj2"/>
                <a:gd fmla="val 20786" name="adj3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 rot="-1799815">
              <a:off x="3183352" y="1184357"/>
              <a:ext cx="2774659" cy="2774659"/>
            </a:xfrm>
            <a:prstGeom prst="blockArc">
              <a:avLst>
                <a:gd fmla="val 12622480" name="adj1"/>
                <a:gd fmla="val 18176457" name="adj2"/>
                <a:gd fmla="val 20786" name="adj3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 rot="3600185">
              <a:off x="3187094" y="1184439"/>
              <a:ext cx="2774659" cy="2774659"/>
            </a:xfrm>
            <a:prstGeom prst="blockArc">
              <a:avLst>
                <a:gd fmla="val 12564381" name="adj1"/>
                <a:gd fmla="val 18346131" name="adj2"/>
                <a:gd fmla="val 20844" name="adj3"/>
              </a:avLst>
            </a:prstGeom>
            <a:solidFill>
              <a:srgbClr val="2B59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 rot="9000185">
              <a:off x="3185977" y="1184485"/>
              <a:ext cx="2774659" cy="2774659"/>
            </a:xfrm>
            <a:prstGeom prst="blockArc">
              <a:avLst>
                <a:gd fmla="val 12622480" name="adj1"/>
                <a:gd fmla="val 18081133" name="adj2"/>
                <a:gd fmla="val 20809" name="adj3"/>
              </a:avLst>
            </a:prstGeom>
            <a:solidFill>
              <a:srgbClr val="2B59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6"/>
            <p:cNvSpPr/>
            <p:nvPr/>
          </p:nvSpPr>
          <p:spPr>
            <a:xfrm rot="-5400000">
              <a:off x="5382931" y="2282185"/>
              <a:ext cx="578435" cy="5789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2B59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6" name="Google Shape;176;p16"/>
            <p:cNvGrpSpPr/>
            <p:nvPr/>
          </p:nvGrpSpPr>
          <p:grpSpPr>
            <a:xfrm rot="10800000">
              <a:off x="4280709" y="3378529"/>
              <a:ext cx="585001" cy="585472"/>
              <a:chOff x="1967628" y="812211"/>
              <a:chExt cx="588000" cy="588000"/>
            </a:xfrm>
          </p:grpSpPr>
          <p:sp>
            <p:nvSpPr>
              <p:cNvPr id="177" name="Google Shape;177;p16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chemeClr val="dk1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6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9" name="Google Shape;179;p16"/>
            <p:cNvSpPr/>
            <p:nvPr/>
          </p:nvSpPr>
          <p:spPr>
            <a:xfrm rot="5400000">
              <a:off x="3183219" y="2284816"/>
              <a:ext cx="578435" cy="5789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6"/>
            <p:cNvSpPr txBox="1"/>
            <p:nvPr/>
          </p:nvSpPr>
          <p:spPr>
            <a:xfrm>
              <a:off x="4335750" y="346030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1" name="Google Shape;181;p16"/>
            <p:cNvGrpSpPr/>
            <p:nvPr/>
          </p:nvGrpSpPr>
          <p:grpSpPr>
            <a:xfrm>
              <a:off x="4261689" y="1180926"/>
              <a:ext cx="585001" cy="585530"/>
              <a:chOff x="1967628" y="812211"/>
              <a:chExt cx="588000" cy="588000"/>
            </a:xfrm>
          </p:grpSpPr>
          <p:sp>
            <p:nvSpPr>
              <p:cNvPr id="182" name="Google Shape;182;p16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2B5955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6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55B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4" name="Google Shape;184;p16"/>
            <p:cNvSpPr txBox="1"/>
            <p:nvPr/>
          </p:nvSpPr>
          <p:spPr>
            <a:xfrm>
              <a:off x="4335750" y="1254446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06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5" name="Google Shape;185;p16"/>
          <p:cNvGrpSpPr/>
          <p:nvPr/>
        </p:nvGrpSpPr>
        <p:grpSpPr>
          <a:xfrm>
            <a:off x="0" y="2029275"/>
            <a:ext cx="3680327" cy="2056800"/>
            <a:chOff x="-17075" y="1496725"/>
            <a:chExt cx="3703287" cy="2056800"/>
          </a:xfrm>
        </p:grpSpPr>
        <p:sp>
          <p:nvSpPr>
            <p:cNvPr id="186" name="Google Shape;186;p16"/>
            <p:cNvSpPr txBox="1"/>
            <p:nvPr/>
          </p:nvSpPr>
          <p:spPr>
            <a:xfrm>
              <a:off x="-17075" y="1496725"/>
              <a:ext cx="2509200" cy="205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aleway"/>
                  <a:ea typeface="Raleway"/>
                  <a:cs typeface="Raleway"/>
                  <a:sym typeface="Raleway"/>
                </a:rPr>
                <a:t>Normalize to [0, 1]</a:t>
              </a:r>
              <a:endParaRPr b="1"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700">
                  <a:latin typeface="Roboto Mono Medium"/>
                  <a:ea typeface="Roboto Mono Medium"/>
                  <a:cs typeface="Roboto Mono Medium"/>
                  <a:sym typeface="Roboto Mono Medium"/>
                </a:rPr>
                <a:t>X_train = X_train.astype('float32') / 255.0</a:t>
              </a:r>
              <a:endParaRPr sz="7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r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es-419" sz="700">
                  <a:latin typeface="Roboto Mono Medium"/>
                  <a:ea typeface="Roboto Mono Medium"/>
                  <a:cs typeface="Roboto Mono Medium"/>
                  <a:sym typeface="Roboto Mono Medium"/>
                </a:rPr>
                <a:t>X_test = X_test.astype('float32') / 255.0</a:t>
              </a:r>
              <a:endParaRPr sz="7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ctr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7" name="Google Shape;187;p16"/>
            <p:cNvCxnSpPr/>
            <p:nvPr/>
          </p:nvCxnSpPr>
          <p:spPr>
            <a:xfrm rot="10800000">
              <a:off x="2641913" y="1831625"/>
              <a:ext cx="1044300" cy="0"/>
            </a:xfrm>
            <a:prstGeom prst="straightConnector1">
              <a:avLst/>
            </a:prstGeom>
            <a:noFill/>
            <a:ln cap="flat" cmpd="sng" w="9525">
              <a:solidFill>
                <a:srgbClr val="1F887E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88" name="Google Shape;188;p16"/>
          <p:cNvGrpSpPr/>
          <p:nvPr/>
        </p:nvGrpSpPr>
        <p:grpSpPr>
          <a:xfrm>
            <a:off x="5677289" y="2192219"/>
            <a:ext cx="3359392" cy="1730906"/>
            <a:chOff x="5209825" y="1060355"/>
            <a:chExt cx="3809698" cy="1289700"/>
          </a:xfrm>
        </p:grpSpPr>
        <p:sp>
          <p:nvSpPr>
            <p:cNvPr id="189" name="Google Shape;189;p16"/>
            <p:cNvSpPr txBox="1"/>
            <p:nvPr/>
          </p:nvSpPr>
          <p:spPr>
            <a:xfrm>
              <a:off x="6496523" y="1060355"/>
              <a:ext cx="2523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aleway"/>
                  <a:ea typeface="Raleway"/>
                  <a:cs typeface="Raleway"/>
                  <a:sym typeface="Raleway"/>
                </a:rPr>
                <a:t>Data Augmentation Pipeline</a:t>
              </a:r>
              <a:endParaRPr b="1"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data_augmentation = tf.keras.Sequential([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    layers.RandomFlip("horizontal"),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layers.RandomRotation(0.1),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latin typeface="Roboto Mono Medium"/>
                  <a:ea typeface="Roboto Mono Medium"/>
                  <a:cs typeface="Roboto Mono Medium"/>
                  <a:sym typeface="Roboto Mono Medium"/>
                </a:rPr>
                <a:t>layers.RandomZoom(0.1),])</a:t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cxnSp>
          <p:nvCxnSpPr>
            <p:cNvPr id="190" name="Google Shape;190;p16"/>
            <p:cNvCxnSpPr/>
            <p:nvPr/>
          </p:nvCxnSpPr>
          <p:spPr>
            <a:xfrm>
              <a:off x="5209825" y="1705200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55B5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/>
          <p:nvPr>
            <p:ph type="title"/>
          </p:nvPr>
        </p:nvSpPr>
        <p:spPr>
          <a:xfrm>
            <a:off x="727638" y="635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840"/>
              <a:t>2.	Building Custom CNN</a:t>
            </a:r>
            <a:endParaRPr sz="1840"/>
          </a:p>
        </p:txBody>
      </p:sp>
      <p:grpSp>
        <p:nvGrpSpPr>
          <p:cNvPr id="196" name="Google Shape;196;p17"/>
          <p:cNvGrpSpPr/>
          <p:nvPr/>
        </p:nvGrpSpPr>
        <p:grpSpPr>
          <a:xfrm>
            <a:off x="2286675" y="1502123"/>
            <a:ext cx="1944600" cy="3400224"/>
            <a:chOff x="3071457" y="2013875"/>
            <a:chExt cx="1944600" cy="1569600"/>
          </a:xfrm>
        </p:grpSpPr>
        <p:sp>
          <p:nvSpPr>
            <p:cNvPr id="197" name="Google Shape;197;p17"/>
            <p:cNvSpPr/>
            <p:nvPr/>
          </p:nvSpPr>
          <p:spPr>
            <a:xfrm flipH="1" rot="10800000">
              <a:off x="3071457" y="2013875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D96026">
                <a:alpha val="685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7"/>
            <p:cNvSpPr txBox="1"/>
            <p:nvPr/>
          </p:nvSpPr>
          <p:spPr>
            <a:xfrm>
              <a:off x="3316107" y="2136863"/>
              <a:ext cx="1451700" cy="1315500"/>
            </a:xfrm>
            <a:prstGeom prst="rect">
              <a:avLst/>
            </a:prstGeom>
            <a:solidFill>
              <a:srgbClr val="D96026">
                <a:alpha val="685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Classifier Head on Layers:</a:t>
              </a:r>
              <a:endParaRPr b="1"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Flatten()</a:t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Dense(128, activation='relu')</a:t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BatchNormalization()</a:t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Dropout(0.5)</a:t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Dense(10, activation='softmax')</a:t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99" name="Google Shape;199;p17"/>
          <p:cNvGrpSpPr/>
          <p:nvPr/>
        </p:nvGrpSpPr>
        <p:grpSpPr>
          <a:xfrm>
            <a:off x="344450" y="1502213"/>
            <a:ext cx="1944600" cy="3400224"/>
            <a:chOff x="1126863" y="2013875"/>
            <a:chExt cx="1944600" cy="1569600"/>
          </a:xfrm>
        </p:grpSpPr>
        <p:sp>
          <p:nvSpPr>
            <p:cNvPr id="200" name="Google Shape;200;p17"/>
            <p:cNvSpPr/>
            <p:nvPr/>
          </p:nvSpPr>
          <p:spPr>
            <a:xfrm>
              <a:off x="1126863" y="2013875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D96026">
                <a:alpha val="45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 txBox="1"/>
            <p:nvPr/>
          </p:nvSpPr>
          <p:spPr>
            <a:xfrm>
              <a:off x="1351638" y="2147727"/>
              <a:ext cx="1451700" cy="1300800"/>
            </a:xfrm>
            <a:prstGeom prst="rect">
              <a:avLst/>
            </a:prstGeom>
            <a:solidFill>
              <a:srgbClr val="D96026">
                <a:alpha val="45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Input Layer &amp; Augmentation.</a:t>
              </a:r>
              <a:endParaRPr b="1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Models.Sequential</a:t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3 Layers Blocks:</a:t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-Conv2D(32/64/128, padding = ‘same’, activation = ‘relu’)</a:t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-BatchNormalization()</a:t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-MaxPooling2D((2, 2))</a:t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-Dropout(0.25)</a:t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202" name="Google Shape;202;p17"/>
          <p:cNvSpPr/>
          <p:nvPr/>
        </p:nvSpPr>
        <p:spPr>
          <a:xfrm>
            <a:off x="4228775" y="1502247"/>
            <a:ext cx="3001200" cy="3400200"/>
          </a:xfrm>
          <a:prstGeom prst="round2DiagRect">
            <a:avLst>
              <a:gd fmla="val 0" name="adj1"/>
              <a:gd fmla="val 17764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" name="Google Shape;203;p17"/>
          <p:cNvGrpSpPr/>
          <p:nvPr/>
        </p:nvGrpSpPr>
        <p:grpSpPr>
          <a:xfrm>
            <a:off x="4098309" y="2701270"/>
            <a:ext cx="261571" cy="260379"/>
            <a:chOff x="4858109" y="2631368"/>
            <a:chExt cx="316442" cy="315000"/>
          </a:xfrm>
        </p:grpSpPr>
        <p:sp>
          <p:nvSpPr>
            <p:cNvPr id="204" name="Google Shape;204;p17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fmla="val 32020" name="adj1"/>
                <a:gd fmla="val 6697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s-419"/>
              </a:br>
              <a:endParaRPr/>
            </a:p>
          </p:txBody>
        </p:sp>
      </p:grpSp>
      <p:grpSp>
        <p:nvGrpSpPr>
          <p:cNvPr id="206" name="Google Shape;206;p17"/>
          <p:cNvGrpSpPr/>
          <p:nvPr/>
        </p:nvGrpSpPr>
        <p:grpSpPr>
          <a:xfrm>
            <a:off x="2161103" y="2701271"/>
            <a:ext cx="260366" cy="260366"/>
            <a:chOff x="3157188" y="909150"/>
            <a:chExt cx="470400" cy="470400"/>
          </a:xfrm>
        </p:grpSpPr>
        <p:sp>
          <p:nvSpPr>
            <p:cNvPr id="207" name="Google Shape;207;p17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fmla="val 99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9" name="Google Shape;2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375" y="1788875"/>
            <a:ext cx="2434001" cy="282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/>
          <p:nvPr/>
        </p:nvSpPr>
        <p:spPr>
          <a:xfrm>
            <a:off x="7315625" y="1502125"/>
            <a:ext cx="1739700" cy="3400200"/>
          </a:xfrm>
          <a:prstGeom prst="flowChartAlternateProcess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b="1" lang="es-419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Total params</a:t>
            </a:r>
            <a:r>
              <a:rPr lang="es-419" sz="9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: 358,218 (1.37 MB)</a:t>
            </a:r>
            <a:endParaRPr sz="900">
              <a:solidFill>
                <a:schemeClr val="l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b="1" lang="es-419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Trainable params</a:t>
            </a:r>
            <a:r>
              <a:rPr lang="es-419" sz="9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: 357,514 (1.36 MB)</a:t>
            </a:r>
            <a:endParaRPr sz="900">
              <a:solidFill>
                <a:schemeClr val="l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b="1" lang="es-419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Non-trainable </a:t>
            </a:r>
            <a:r>
              <a:rPr lang="es-419" sz="9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params: 704 (2.75 KB)</a:t>
            </a:r>
            <a:endParaRPr sz="900">
              <a:solidFill>
                <a:schemeClr val="l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title"/>
          </p:nvPr>
        </p:nvSpPr>
        <p:spPr>
          <a:xfrm>
            <a:off x="727638" y="635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840"/>
              <a:t>3.	Train &amp; Evaluate Custom CNN</a:t>
            </a:r>
            <a:endParaRPr sz="1840"/>
          </a:p>
        </p:txBody>
      </p:sp>
      <p:sp>
        <p:nvSpPr>
          <p:cNvPr id="216" name="Google Shape;216;p18"/>
          <p:cNvSpPr/>
          <p:nvPr/>
        </p:nvSpPr>
        <p:spPr>
          <a:xfrm flipH="1" rot="984884">
            <a:off x="4005984" y="3080380"/>
            <a:ext cx="1116820" cy="57901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 rot="-984884">
            <a:off x="2983463" y="3080380"/>
            <a:ext cx="1116820" cy="57901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 flipH="1" rot="984884">
            <a:off x="1952807" y="3080380"/>
            <a:ext cx="1116820" cy="57901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 rot="-984884">
            <a:off x="930286" y="3080380"/>
            <a:ext cx="1116820" cy="57901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" name="Google Shape;220;p18"/>
          <p:cNvGrpSpPr/>
          <p:nvPr/>
        </p:nvGrpSpPr>
        <p:grpSpPr>
          <a:xfrm>
            <a:off x="2177541" y="3321023"/>
            <a:ext cx="1712709" cy="1692748"/>
            <a:chOff x="2114723" y="2661593"/>
            <a:chExt cx="1712709" cy="1112479"/>
          </a:xfrm>
        </p:grpSpPr>
        <p:sp>
          <p:nvSpPr>
            <p:cNvPr id="221" name="Google Shape;221;p18"/>
            <p:cNvSpPr txBox="1"/>
            <p:nvPr/>
          </p:nvSpPr>
          <p:spPr>
            <a:xfrm>
              <a:off x="2114723" y="2661593"/>
              <a:ext cx="17127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s-419" sz="80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Define Callbacks</a:t>
              </a:r>
              <a:endParaRPr b="1" sz="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2114731" y="2954772"/>
              <a:ext cx="1712700" cy="819300"/>
            </a:xfrm>
            <a:prstGeom prst="roundRect">
              <a:avLst>
                <a:gd fmla="val 4485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8"/>
            <p:cNvSpPr txBox="1"/>
            <p:nvPr/>
          </p:nvSpPr>
          <p:spPr>
            <a:xfrm>
              <a:off x="2158981" y="2970777"/>
              <a:ext cx="1624200" cy="7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700">
                  <a:solidFill>
                    <a:srgbClr val="00FF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EarlyStopping</a:t>
              </a:r>
              <a:r>
                <a:rPr lang="es-419" sz="7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(monitor='val_loss', patience=5, restore_best_weights=True)</a:t>
              </a:r>
              <a:endParaRPr sz="7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s-419" sz="700">
                  <a:solidFill>
                    <a:srgbClr val="00FF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ReduceLROnPlateau</a:t>
              </a:r>
              <a:r>
                <a:rPr lang="es-419" sz="7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(monitor='val_loss', factor=0.2, patience=3, min_lr=1e-6)</a:t>
              </a:r>
              <a:endParaRPr sz="7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2926115" y="2887268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5" name="Google Shape;225;p18"/>
          <p:cNvGrpSpPr/>
          <p:nvPr/>
        </p:nvGrpSpPr>
        <p:grpSpPr>
          <a:xfrm>
            <a:off x="4227950" y="3226327"/>
            <a:ext cx="1712700" cy="1917325"/>
            <a:chOff x="4165150" y="2614275"/>
            <a:chExt cx="1712700" cy="2167203"/>
          </a:xfrm>
        </p:grpSpPr>
        <p:sp>
          <p:nvSpPr>
            <p:cNvPr id="226" name="Google Shape;226;p18"/>
            <p:cNvSpPr txBox="1"/>
            <p:nvPr/>
          </p:nvSpPr>
          <p:spPr>
            <a:xfrm>
              <a:off x="4206889" y="2614275"/>
              <a:ext cx="16242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s-419" sz="80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Evaluate</a:t>
              </a:r>
              <a:endParaRPr b="1" sz="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165150" y="2957779"/>
              <a:ext cx="1712700" cy="1823700"/>
            </a:xfrm>
            <a:prstGeom prst="roundRect">
              <a:avLst>
                <a:gd fmla="val 4485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955490" y="289027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9" name="Google Shape;229;p18"/>
          <p:cNvGrpSpPr/>
          <p:nvPr/>
        </p:nvGrpSpPr>
        <p:grpSpPr>
          <a:xfrm>
            <a:off x="1140050" y="1819325"/>
            <a:ext cx="1712847" cy="1041975"/>
            <a:chOff x="1072645" y="1221563"/>
            <a:chExt cx="1712847" cy="1041975"/>
          </a:xfrm>
        </p:grpSpPr>
        <p:sp>
          <p:nvSpPr>
            <p:cNvPr id="230" name="Google Shape;230;p18"/>
            <p:cNvSpPr/>
            <p:nvPr/>
          </p:nvSpPr>
          <p:spPr>
            <a:xfrm>
              <a:off x="1072790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 txBox="1"/>
            <p:nvPr/>
          </p:nvSpPr>
          <p:spPr>
            <a:xfrm>
              <a:off x="1072792" y="1987538"/>
              <a:ext cx="1712700" cy="27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s-419" sz="800">
                  <a:solidFill>
                    <a:srgbClr val="479688"/>
                  </a:solidFill>
                  <a:latin typeface="Raleway"/>
                  <a:ea typeface="Raleway"/>
                  <a:cs typeface="Raleway"/>
                  <a:sym typeface="Raleway"/>
                </a:rPr>
                <a:t>Compile the model</a:t>
              </a:r>
              <a:endParaRPr b="1" sz="800">
                <a:solidFill>
                  <a:srgbClr val="479688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32" name="Google Shape;232;p18"/>
            <p:cNvSpPr/>
            <p:nvPr/>
          </p:nvSpPr>
          <p:spPr>
            <a:xfrm rot="10800000">
              <a:off x="1884115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1072645" y="1221563"/>
              <a:ext cx="1712700" cy="70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800">
                  <a:solidFill>
                    <a:srgbClr val="00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optimizer</a:t>
              </a:r>
              <a:r>
                <a:rPr lang="es-419" sz="8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='adam',                   </a:t>
              </a:r>
              <a:r>
                <a:rPr lang="es-419" sz="800">
                  <a:solidFill>
                    <a:srgbClr val="00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loss</a:t>
              </a:r>
              <a:r>
                <a:rPr lang="es-419" sz="8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='sparse_categorical_crossentropy',                   </a:t>
              </a:r>
              <a:r>
                <a:rPr lang="es-419" sz="800">
                  <a:solidFill>
                    <a:srgbClr val="00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metrics</a:t>
              </a:r>
              <a:r>
                <a:rPr lang="es-419" sz="8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=['accuracy'])</a:t>
              </a:r>
              <a:endParaRPr sz="8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3196850" y="1620650"/>
            <a:ext cx="1712704" cy="1330362"/>
            <a:chOff x="3133970" y="1385335"/>
            <a:chExt cx="1712704" cy="1058363"/>
          </a:xfrm>
        </p:grpSpPr>
        <p:sp>
          <p:nvSpPr>
            <p:cNvPr id="235" name="Google Shape;235;p18"/>
            <p:cNvSpPr txBox="1"/>
            <p:nvPr/>
          </p:nvSpPr>
          <p:spPr>
            <a:xfrm>
              <a:off x="3133974" y="2167698"/>
              <a:ext cx="17127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s-419" sz="80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Train</a:t>
              </a:r>
              <a:endParaRPr b="1" sz="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3133970" y="1385335"/>
              <a:ext cx="1712700" cy="767700"/>
            </a:xfrm>
            <a:prstGeom prst="roundRect">
              <a:avLst>
                <a:gd fmla="val 4485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237" name="Google Shape;237;p18"/>
            <p:cNvSpPr/>
            <p:nvPr/>
          </p:nvSpPr>
          <p:spPr>
            <a:xfrm rot="10800000">
              <a:off x="3934490" y="215307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238" name="Google Shape;238;p18"/>
            <p:cNvSpPr txBox="1"/>
            <p:nvPr/>
          </p:nvSpPr>
          <p:spPr>
            <a:xfrm>
              <a:off x="3167395" y="1385335"/>
              <a:ext cx="16242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-419" sz="7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custom_cnn.</a:t>
              </a:r>
              <a:r>
                <a:rPr lang="es-419" sz="700">
                  <a:solidFill>
                    <a:srgbClr val="FFD96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fit</a:t>
              </a:r>
              <a:r>
                <a:rPr lang="es-419" sz="7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(X_train, y_train,</a:t>
              </a:r>
              <a:r>
                <a:rPr lang="es-419" sz="700">
                  <a:solidFill>
                    <a:srgbClr val="00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epochs</a:t>
              </a:r>
              <a:r>
                <a:rPr lang="es-419" sz="7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=30,   validation_data=(X_test, y_test),    batch_size=64,    </a:t>
              </a:r>
              <a:r>
                <a:rPr lang="es-419" sz="700">
                  <a:solidFill>
                    <a:srgbClr val="00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callbacks</a:t>
              </a:r>
              <a:r>
                <a:rPr lang="es-419" sz="7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=[early_stopping, reduce_lr])</a:t>
              </a:r>
              <a:endParaRPr sz="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239" name="Google Shape;239;p18"/>
          <p:cNvSpPr/>
          <p:nvPr/>
        </p:nvSpPr>
        <p:spPr>
          <a:xfrm>
            <a:off x="82025" y="3910150"/>
            <a:ext cx="1712700" cy="1047600"/>
          </a:xfrm>
          <a:prstGeom prst="doubleWave">
            <a:avLst>
              <a:gd fmla="val 625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latin typeface="Raleway"/>
                <a:ea typeface="Raleway"/>
                <a:cs typeface="Raleway"/>
                <a:sym typeface="Raleway"/>
              </a:rPr>
              <a:t> Dynamically reduces the learning rate when a monitored metric (validation loss) stops improving after a specified number of epochs (patience)</a:t>
            </a:r>
            <a:endParaRPr sz="900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40" name="Google Shape;240;p18"/>
          <p:cNvCxnSpPr>
            <a:stCxn id="239" idx="3"/>
          </p:cNvCxnSpPr>
          <p:nvPr/>
        </p:nvCxnSpPr>
        <p:spPr>
          <a:xfrm>
            <a:off x="1794725" y="4433950"/>
            <a:ext cx="462300" cy="103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1F1F1F"/>
            </a:solidFill>
            <a:prstDash val="solid"/>
            <a:round/>
            <a:headEnd len="med" w="med" type="stealth"/>
            <a:tailEnd len="med" w="med" type="none"/>
          </a:ln>
        </p:spPr>
      </p:cxnSp>
      <p:pic>
        <p:nvPicPr>
          <p:cNvPr id="241" name="Google Shape;24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8251" y="3565813"/>
            <a:ext cx="1610350" cy="15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8"/>
          <p:cNvSpPr txBox="1"/>
          <p:nvPr/>
        </p:nvSpPr>
        <p:spPr>
          <a:xfrm>
            <a:off x="6675602" y="1620650"/>
            <a:ext cx="17130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-419" sz="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Confusion Matrix</a:t>
            </a:r>
            <a:endParaRPr b="1" sz="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43" name="Google Shape;24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2825" y="2017975"/>
            <a:ext cx="2898551" cy="2599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/>
          <p:nvPr>
            <p:ph type="title"/>
          </p:nvPr>
        </p:nvSpPr>
        <p:spPr>
          <a:xfrm>
            <a:off x="727638" y="635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840"/>
              <a:t>4. 	Transfer Learning (MobileNetV2, EfficientNetB0, ResNet50V2)</a:t>
            </a:r>
            <a:endParaRPr sz="1840"/>
          </a:p>
        </p:txBody>
      </p:sp>
      <p:grpSp>
        <p:nvGrpSpPr>
          <p:cNvPr id="249" name="Google Shape;249;p19"/>
          <p:cNvGrpSpPr/>
          <p:nvPr/>
        </p:nvGrpSpPr>
        <p:grpSpPr>
          <a:xfrm>
            <a:off x="0" y="1660664"/>
            <a:ext cx="2726700" cy="3482836"/>
            <a:chOff x="0" y="1189989"/>
            <a:chExt cx="2726700" cy="3482836"/>
          </a:xfrm>
        </p:grpSpPr>
        <p:sp>
          <p:nvSpPr>
            <p:cNvPr id="250" name="Google Shape;250;p19"/>
            <p:cNvSpPr/>
            <p:nvPr/>
          </p:nvSpPr>
          <p:spPr>
            <a:xfrm>
              <a:off x="0" y="1189989"/>
              <a:ext cx="2726700" cy="669000"/>
            </a:xfrm>
            <a:prstGeom prst="homePlate">
              <a:avLst>
                <a:gd fmla="val 50000" name="adj"/>
              </a:avLst>
            </a:prstGeom>
            <a:solidFill>
              <a:srgbClr val="561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MobileNetV2</a:t>
              </a:r>
              <a:endParaRPr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1" name="Google Shape;251;p19"/>
            <p:cNvSpPr txBox="1"/>
            <p:nvPr/>
          </p:nvSpPr>
          <p:spPr>
            <a:xfrm>
              <a:off x="410850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>
                  <a:latin typeface="Raleway"/>
                  <a:ea typeface="Raleway"/>
                  <a:cs typeface="Raleway"/>
                  <a:sym typeface="Raleway"/>
                </a:rPr>
                <a:t>Expects [-1, 1]</a:t>
              </a:r>
              <a:endParaRPr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>
                  <a:solidFill>
                    <a:srgbClr val="00FF00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layers</a:t>
              </a:r>
              <a:r>
                <a:rPr lang="es-419" sz="12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.Lambda(</a:t>
              </a:r>
              <a:endParaRPr sz="1200">
                <a:solidFill>
                  <a:schemeClr val="lt1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lambda x: </a:t>
              </a:r>
              <a:endParaRPr sz="1200">
                <a:solidFill>
                  <a:schemeClr val="lt1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(x * 2.0) - 1.0)</a:t>
              </a:r>
              <a:r>
                <a:rPr lang="es-419" sz="1200"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endParaRPr sz="12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52" name="Google Shape;252;p19"/>
          <p:cNvGrpSpPr/>
          <p:nvPr/>
        </p:nvGrpSpPr>
        <p:grpSpPr>
          <a:xfrm>
            <a:off x="2263425" y="1660450"/>
            <a:ext cx="2541300" cy="3483050"/>
            <a:chOff x="2263425" y="1189775"/>
            <a:chExt cx="2541300" cy="3483050"/>
          </a:xfrm>
        </p:grpSpPr>
        <p:sp>
          <p:nvSpPr>
            <p:cNvPr id="253" name="Google Shape;253;p19"/>
            <p:cNvSpPr/>
            <p:nvPr/>
          </p:nvSpPr>
          <p:spPr>
            <a:xfrm>
              <a:off x="2263425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EfficientNetB0</a:t>
              </a:r>
              <a:endParaRPr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4" name="Google Shape;254;p19"/>
            <p:cNvSpPr txBox="1"/>
            <p:nvPr/>
          </p:nvSpPr>
          <p:spPr>
            <a:xfrm>
              <a:off x="2512202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>
                  <a:latin typeface="Raleway"/>
                  <a:ea typeface="Raleway"/>
                  <a:cs typeface="Raleway"/>
                  <a:sym typeface="Raleway"/>
                </a:rPr>
                <a:t>Expects [0, 255]</a:t>
              </a:r>
              <a:r>
                <a:rPr lang="es-419" sz="1200">
                  <a:latin typeface="Raleway"/>
                  <a:ea typeface="Raleway"/>
                  <a:cs typeface="Raleway"/>
                  <a:sym typeface="Raleway"/>
                </a:rPr>
                <a:t>.</a:t>
              </a:r>
              <a:endParaRPr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>
                  <a:solidFill>
                    <a:srgbClr val="00FF00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layers</a:t>
              </a:r>
              <a:r>
                <a:rPr lang="es-419" sz="12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.Rescaling</a:t>
              </a:r>
              <a:endParaRPr sz="1200">
                <a:solidFill>
                  <a:schemeClr val="lt1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(255.0)</a:t>
              </a:r>
              <a:endParaRPr sz="1200">
                <a:solidFill>
                  <a:schemeClr val="lt1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55" name="Google Shape;255;p19"/>
          <p:cNvGrpSpPr/>
          <p:nvPr/>
        </p:nvGrpSpPr>
        <p:grpSpPr>
          <a:xfrm>
            <a:off x="4329974" y="1660450"/>
            <a:ext cx="2541300" cy="3483050"/>
            <a:chOff x="4329974" y="1189775"/>
            <a:chExt cx="2541300" cy="3483050"/>
          </a:xfrm>
        </p:grpSpPr>
        <p:sp>
          <p:nvSpPr>
            <p:cNvPr id="256" name="Google Shape;256;p19"/>
            <p:cNvSpPr/>
            <p:nvPr/>
          </p:nvSpPr>
          <p:spPr>
            <a:xfrm>
              <a:off x="4329974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77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ResNet50V2</a:t>
              </a:r>
              <a:endParaRPr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7" name="Google Shape;257;p19"/>
            <p:cNvSpPr txBox="1"/>
            <p:nvPr/>
          </p:nvSpPr>
          <p:spPr>
            <a:xfrm>
              <a:off x="4613553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>
                  <a:latin typeface="Raleway"/>
                  <a:ea typeface="Raleway"/>
                  <a:cs typeface="Raleway"/>
                  <a:sym typeface="Raleway"/>
                </a:rPr>
                <a:t>Has its own complex scaling utility</a:t>
              </a:r>
              <a:endParaRPr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>
                  <a:solidFill>
                    <a:srgbClr val="00FF00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layers</a:t>
              </a:r>
              <a:r>
                <a:rPr lang="es-419" sz="12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.Lambda(</a:t>
              </a:r>
              <a:endParaRPr sz="1200">
                <a:solidFill>
                  <a:schemeClr val="lt1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lambda x: </a:t>
              </a:r>
              <a:r>
                <a:rPr lang="es-419" sz="1200">
                  <a:solidFill>
                    <a:srgbClr val="00FF00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tf</a:t>
              </a:r>
              <a:r>
                <a:rPr lang="es-419" sz="12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.</a:t>
              </a:r>
              <a:r>
                <a:rPr lang="es-419" sz="1200">
                  <a:solidFill>
                    <a:srgbClr val="00FF00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keras</a:t>
              </a:r>
              <a:r>
                <a:rPr lang="es-419" sz="12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.applications.resnet_v2.preprocess_input</a:t>
              </a:r>
              <a:endParaRPr sz="1200">
                <a:solidFill>
                  <a:schemeClr val="lt1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(x * 255.0))</a:t>
              </a:r>
              <a:endParaRPr sz="1200">
                <a:solidFill>
                  <a:schemeClr val="lt1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58" name="Google Shape;258;p19"/>
          <p:cNvGrpSpPr/>
          <p:nvPr/>
        </p:nvGrpSpPr>
        <p:grpSpPr>
          <a:xfrm>
            <a:off x="6396739" y="1660450"/>
            <a:ext cx="2541300" cy="3107950"/>
            <a:chOff x="6396739" y="1189775"/>
            <a:chExt cx="2541300" cy="3107950"/>
          </a:xfrm>
        </p:grpSpPr>
        <p:sp>
          <p:nvSpPr>
            <p:cNvPr id="259" name="Google Shape;259;p19"/>
            <p:cNvSpPr/>
            <p:nvPr/>
          </p:nvSpPr>
          <p:spPr>
            <a:xfrm>
              <a:off x="6396739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80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Full Pipeline</a:t>
              </a:r>
              <a:endParaRPr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60" name="Google Shape;260;p19"/>
            <p:cNvSpPr txBox="1"/>
            <p:nvPr/>
          </p:nvSpPr>
          <p:spPr>
            <a:xfrm>
              <a:off x="6549300" y="2039625"/>
              <a:ext cx="2236200" cy="2258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00FF00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models</a:t>
              </a:r>
              <a:r>
                <a:rPr lang="es-419" sz="11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.Sequential([     </a:t>
              </a:r>
              <a:r>
                <a:rPr lang="es-419" sz="1100">
                  <a:solidFill>
                    <a:srgbClr val="00FF00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layers</a:t>
              </a:r>
              <a:r>
                <a:rPr lang="es-419" sz="11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.Input(</a:t>
              </a:r>
              <a:endParaRPr sz="1100">
                <a:solidFill>
                  <a:schemeClr val="lt1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A4C2F4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shape</a:t>
              </a:r>
              <a:r>
                <a:rPr lang="es-419" sz="11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=(32, 32, 3)),        </a:t>
              </a:r>
              <a:r>
                <a:rPr lang="es-419" sz="1100">
                  <a:solidFill>
                    <a:srgbClr val="00FF00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layers</a:t>
              </a:r>
              <a:r>
                <a:rPr lang="es-419" sz="11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.Resizing(96, 96),</a:t>
              </a:r>
              <a:endParaRPr sz="1100">
                <a:solidFill>
                  <a:schemeClr val="lt1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A4C2F4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preprocess</a:t>
              </a:r>
              <a:r>
                <a:rPr lang="es-419" sz="11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endParaRPr sz="1100">
                <a:solidFill>
                  <a:schemeClr val="lt1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A4C2F4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base</a:t>
              </a:r>
              <a:r>
                <a:rPr lang="es-419" sz="11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        </a:t>
              </a:r>
              <a:r>
                <a:rPr lang="es-419" sz="1100">
                  <a:solidFill>
                    <a:srgbClr val="00FF00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layers</a:t>
              </a:r>
              <a:r>
                <a:rPr lang="es-419" sz="11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.GlobalAveragePooling2D(),        </a:t>
              </a:r>
              <a:r>
                <a:rPr lang="es-419" sz="1100">
                  <a:solidFill>
                    <a:srgbClr val="00FF00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layers</a:t>
              </a:r>
              <a:r>
                <a:rPr lang="es-419" sz="11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.</a:t>
              </a:r>
              <a:r>
                <a:rPr lang="es-419" sz="1100">
                  <a:solidFill>
                    <a:srgbClr val="00FF00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Dropout</a:t>
              </a:r>
              <a:r>
                <a:rPr lang="es-419" sz="11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(0.3),        </a:t>
              </a:r>
              <a:r>
                <a:rPr lang="es-419" sz="1100">
                  <a:solidFill>
                    <a:srgbClr val="00FF00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layers</a:t>
              </a:r>
              <a:r>
                <a:rPr lang="es-419" sz="11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.</a:t>
              </a:r>
              <a:r>
                <a:rPr lang="es-419" sz="1100">
                  <a:solidFill>
                    <a:srgbClr val="00FF00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Dense</a:t>
              </a:r>
              <a:r>
                <a:rPr lang="es-419" sz="11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endParaRPr sz="1100">
                <a:solidFill>
                  <a:schemeClr val="lt1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chemeClr val="lt1"/>
                  </a:solidFill>
                  <a:highlight>
                    <a:schemeClr val="dk2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10,activation='softmax’)</a:t>
              </a:r>
              <a:endParaRPr sz="1100">
                <a:solidFill>
                  <a:schemeClr val="lt1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261" name="Google Shape;261;p19"/>
          <p:cNvSpPr txBox="1"/>
          <p:nvPr/>
        </p:nvSpPr>
        <p:spPr>
          <a:xfrm>
            <a:off x="0" y="1253982"/>
            <a:ext cx="9144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Run the three transfer learning models, compare them and get the best one.</a:t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/>
          <p:nvPr>
            <p:ph type="title"/>
          </p:nvPr>
        </p:nvSpPr>
        <p:spPr>
          <a:xfrm>
            <a:off x="727638" y="635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840"/>
              <a:t>5</a:t>
            </a:r>
            <a:r>
              <a:rPr lang="es-419" sz="1840"/>
              <a:t>. 	</a:t>
            </a:r>
            <a:r>
              <a:rPr lang="es-419" sz="1840"/>
              <a:t>Comparison Plots &amp; Best Model</a:t>
            </a:r>
            <a:endParaRPr sz="1840"/>
          </a:p>
        </p:txBody>
      </p:sp>
      <p:pic>
        <p:nvPicPr>
          <p:cNvPr id="267" name="Google Shape;267;p20"/>
          <p:cNvPicPr preferRelativeResize="0"/>
          <p:nvPr/>
        </p:nvPicPr>
        <p:blipFill rotWithShape="1">
          <a:blip r:embed="rId3">
            <a:alphaModFix/>
          </a:blip>
          <a:srcRect b="0" l="0" r="49128" t="0"/>
          <a:stretch/>
        </p:blipFill>
        <p:spPr>
          <a:xfrm>
            <a:off x="5743575" y="1170475"/>
            <a:ext cx="2377449" cy="185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725" y="2183875"/>
            <a:ext cx="3719050" cy="176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0"/>
          <p:cNvPicPr preferRelativeResize="0"/>
          <p:nvPr/>
        </p:nvPicPr>
        <p:blipFill rotWithShape="1">
          <a:blip r:embed="rId3">
            <a:alphaModFix/>
          </a:blip>
          <a:srcRect b="0" l="50417" r="0" t="0"/>
          <a:stretch/>
        </p:blipFill>
        <p:spPr>
          <a:xfrm>
            <a:off x="5743575" y="3074925"/>
            <a:ext cx="2377449" cy="18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 txBox="1"/>
          <p:nvPr>
            <p:ph type="title"/>
          </p:nvPr>
        </p:nvSpPr>
        <p:spPr>
          <a:xfrm>
            <a:off x="727638" y="635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840"/>
              <a:t>6</a:t>
            </a:r>
            <a:r>
              <a:rPr lang="es-419" sz="1840"/>
              <a:t>. 	Ensemble</a:t>
            </a:r>
            <a:endParaRPr sz="1840"/>
          </a:p>
        </p:txBody>
      </p:sp>
      <p:sp>
        <p:nvSpPr>
          <p:cNvPr id="275" name="Google Shape;275;p21"/>
          <p:cNvSpPr txBox="1"/>
          <p:nvPr/>
        </p:nvSpPr>
        <p:spPr>
          <a:xfrm>
            <a:off x="0" y="1253982"/>
            <a:ext cx="9144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Ensemble</a:t>
            </a:r>
            <a:r>
              <a:rPr lang="es-419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in a soft voting system the two best models (MobileNetV2 &amp; EfficientNetB0)</a:t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76" name="Google Shape;276;p21"/>
          <p:cNvGrpSpPr/>
          <p:nvPr/>
        </p:nvGrpSpPr>
        <p:grpSpPr>
          <a:xfrm>
            <a:off x="2743906" y="1688175"/>
            <a:ext cx="2359819" cy="3106146"/>
            <a:chOff x="2744101" y="1597462"/>
            <a:chExt cx="1827900" cy="2406000"/>
          </a:xfrm>
        </p:grpSpPr>
        <p:sp>
          <p:nvSpPr>
            <p:cNvPr id="277" name="Google Shape;277;p21"/>
            <p:cNvSpPr/>
            <p:nvPr/>
          </p:nvSpPr>
          <p:spPr>
            <a:xfrm rot="5400000">
              <a:off x="2455051" y="1886512"/>
              <a:ext cx="2406000" cy="1827900"/>
            </a:xfrm>
            <a:prstGeom prst="rightArrowCallout">
              <a:avLst>
                <a:gd fmla="val 9283" name="adj1"/>
                <a:gd fmla="val 13570" name="adj2"/>
                <a:gd fmla="val 16082" name="adj3"/>
                <a:gd fmla="val 81236" name="adj4"/>
              </a:avLst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118025" lIns="118025" spcFirstLastPara="1" rIns="118025" wrap="square" tIns="118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7"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 flipH="1" rot="10800000">
              <a:off x="2834043" y="1687411"/>
              <a:ext cx="1649400" cy="1769700"/>
            </a:xfrm>
            <a:prstGeom prst="snip1Rect">
              <a:avLst>
                <a:gd fmla="val 0" name="adj"/>
              </a:avLst>
            </a:prstGeom>
            <a:solidFill>
              <a:srgbClr val="0B713F"/>
            </a:solidFill>
            <a:ln>
              <a:noFill/>
            </a:ln>
          </p:spPr>
          <p:txBody>
            <a:bodyPr anchorCtr="0" anchor="ctr" bIns="118025" lIns="118025" spcFirstLastPara="1" rIns="118025" wrap="square" tIns="118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7"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79" name="Google Shape;279;p21"/>
            <p:cNvSpPr txBox="1"/>
            <p:nvPr/>
          </p:nvSpPr>
          <p:spPr>
            <a:xfrm>
              <a:off x="2834143" y="1687412"/>
              <a:ext cx="1649400" cy="1769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118025" lIns="118025" spcFirstLastPara="1" rIns="118025" wrap="square" tIns="1180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32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Soft Voting:</a:t>
              </a:r>
              <a:endParaRPr b="1" sz="103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3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32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ensemble_avg_probs 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 </a:t>
              </a:r>
              <a:r>
                <a:rPr lang="es-419" sz="1032">
                  <a:solidFill>
                    <a:srgbClr val="00FF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np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</a:t>
              </a:r>
              <a:r>
                <a:rPr lang="es-419" sz="1032">
                  <a:solidFill>
                    <a:srgbClr val="FFE59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mean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r>
                <a:rPr lang="es-419" sz="1032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all_probabilities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</a:t>
              </a:r>
              <a:r>
                <a:rPr lang="es-419" sz="1032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axis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=0)</a:t>
              </a:r>
              <a:endParaRPr sz="1032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2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32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Final class prediction:</a:t>
              </a:r>
              <a:endParaRPr b="1" sz="103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</a:t>
              </a:r>
              <a:r>
                <a:rPr lang="es-419" sz="1032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ensemble_final_classes 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 </a:t>
              </a:r>
              <a:r>
                <a:rPr lang="es-419" sz="1032">
                  <a:solidFill>
                    <a:srgbClr val="00FF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np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</a:t>
              </a:r>
              <a:r>
                <a:rPr lang="es-419" sz="1032">
                  <a:solidFill>
                    <a:srgbClr val="FFE59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argmax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r>
                <a:rPr lang="es-419" sz="1032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ensemble_avg_probs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</a:t>
              </a:r>
              <a:r>
                <a:rPr lang="es-419" sz="1032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axis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=1)</a:t>
              </a:r>
              <a:endParaRPr sz="1032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2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80" name="Google Shape;280;p21"/>
          <p:cNvGrpSpPr/>
          <p:nvPr/>
        </p:nvGrpSpPr>
        <p:grpSpPr>
          <a:xfrm>
            <a:off x="384075" y="1694196"/>
            <a:ext cx="2359819" cy="3098013"/>
            <a:chOff x="916059" y="1146343"/>
            <a:chExt cx="1827900" cy="2399700"/>
          </a:xfrm>
        </p:grpSpPr>
        <p:sp>
          <p:nvSpPr>
            <p:cNvPr id="281" name="Google Shape;281;p21"/>
            <p:cNvSpPr/>
            <p:nvPr/>
          </p:nvSpPr>
          <p:spPr>
            <a:xfrm rot="-5400000">
              <a:off x="630159" y="1432243"/>
              <a:ext cx="2399700" cy="1827900"/>
            </a:xfrm>
            <a:prstGeom prst="rightArrowCallout">
              <a:avLst>
                <a:gd fmla="val 9283" name="adj1"/>
                <a:gd fmla="val 13570" name="adj2"/>
                <a:gd fmla="val 16082" name="adj3"/>
                <a:gd fmla="val 81236" name="adj4"/>
              </a:avLst>
            </a:prstGeom>
            <a:solidFill>
              <a:srgbClr val="65F0AC"/>
            </a:solidFill>
            <a:ln>
              <a:noFill/>
            </a:ln>
          </p:spPr>
          <p:txBody>
            <a:bodyPr anchorCtr="0" anchor="ctr" bIns="118025" lIns="118025" spcFirstLastPara="1" rIns="118025" wrap="square" tIns="118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82" name="Google Shape;282;p21"/>
            <p:cNvSpPr/>
            <p:nvPr/>
          </p:nvSpPr>
          <p:spPr>
            <a:xfrm flipH="1">
              <a:off x="1004625" y="1686400"/>
              <a:ext cx="1649400" cy="1769700"/>
            </a:xfrm>
            <a:prstGeom prst="snip1Rect">
              <a:avLst>
                <a:gd fmla="val 0" name="adj"/>
              </a:avLst>
            </a:prstGeom>
            <a:solidFill>
              <a:srgbClr val="0B713F"/>
            </a:solidFill>
            <a:ln>
              <a:noFill/>
            </a:ln>
          </p:spPr>
          <p:txBody>
            <a:bodyPr anchorCtr="0" anchor="ctr" bIns="118025" lIns="118025" spcFirstLastPara="1" rIns="118025" wrap="square" tIns="118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83" name="Google Shape;283;p21"/>
            <p:cNvSpPr txBox="1"/>
            <p:nvPr/>
          </p:nvSpPr>
          <p:spPr>
            <a:xfrm>
              <a:off x="1004633" y="1686392"/>
              <a:ext cx="1649400" cy="1769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118025" lIns="118025" spcFirstLastPara="1" rIns="118025" wrap="square" tIns="1180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32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For loop enumerating the models_list:</a:t>
              </a:r>
              <a:endParaRPr b="1" sz="103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2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32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probs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lang="es-419" sz="1032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model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.predict(</a:t>
              </a:r>
              <a:endParaRPr sz="1032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X_test, verbose=0)        </a:t>
              </a:r>
              <a:r>
                <a:rPr lang="es-419" sz="1032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all_probabilities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</a:t>
              </a:r>
              <a:r>
                <a:rPr lang="es-419" sz="1032">
                  <a:solidFill>
                    <a:srgbClr val="FFD96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append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r>
                <a:rPr lang="es-419" sz="1032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probs</a:t>
              </a:r>
              <a:r>
                <a:rPr lang="es-419" sz="1032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032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284" name="Google Shape;2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3500" y="1688182"/>
            <a:ext cx="3303036" cy="3234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